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56" r:id="rId4"/>
    <p:sldId id="257" r:id="rId5"/>
    <p:sldId id="258" r:id="rId6"/>
    <p:sldId id="259" r:id="rId7"/>
    <p:sldId id="260" r:id="rId8"/>
    <p:sldId id="261" r:id="rId9"/>
    <p:sldId id="262" r:id="rId10"/>
    <p:sldId id="263" r:id="rId11"/>
    <p:sldId id="266" r:id="rId12"/>
    <p:sldId id="264" r:id="rId13"/>
    <p:sldId id="265"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39" autoAdjust="0"/>
    <p:restoredTop sz="94660"/>
  </p:normalViewPr>
  <p:slideViewPr>
    <p:cSldViewPr snapToGrid="0">
      <p:cViewPr varScale="1">
        <p:scale>
          <a:sx n="82" d="100"/>
          <a:sy n="82" d="100"/>
        </p:scale>
        <p:origin x="5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630D-8A44-A506-2696-7340F80B14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A4B84F-EF94-FF1C-D32A-FB59BB4D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B07C50-D15C-2F41-14D2-2F664D682AE4}"/>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9DE910FD-DBED-D209-6423-B839DBEE29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5D8385-3BFB-BFE1-DA5F-9487D4766A71}"/>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140409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B6F2-65CD-89C2-E7B8-DF476A9EC2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A033AF-5DAD-4C49-2D1D-DF1FFA9B35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A72E1B-E18A-5436-849F-46386435C740}"/>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2DF29733-45C3-C657-B3E5-D325E69CCA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7A8A6E-F080-2C21-2A45-5299A9A78EEA}"/>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357217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ACFCC-93D1-50D3-962D-1DB77DA52E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ED13C1-081F-C197-D4A9-7AE7871A20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CCC179-1CB8-E883-25B0-2DB1B8D49C7E}"/>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F5B0D13B-B24A-7B96-F3A6-D514FE326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38EED2-C2B7-2B1F-08A4-B9698E7707DA}"/>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1148527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9AB3-2D3F-02A7-E650-D17806CE50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2C3ABC-C838-A6D8-8171-E19F073E75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FC7EFB-CB67-8D24-9033-8ACEE65F78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FF3104-4B73-BE0B-B684-7F401C9CABD8}"/>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6" name="Footer Placeholder 5">
            <a:extLst>
              <a:ext uri="{FF2B5EF4-FFF2-40B4-BE49-F238E27FC236}">
                <a16:creationId xmlns:a16="http://schemas.microsoft.com/office/drawing/2014/main" id="{7F4CDEB4-3EE3-905F-C763-CACAF35991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37477C-E8F3-2DE4-F207-26FE9B0D5294}"/>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268188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B515-9346-48D9-3FEE-05366B84E1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B275FD-3115-8128-7262-59A0C66E3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88BA96-E77B-2ED5-1B08-383C935B0B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97790C-D536-17D5-2A86-A6896607CF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AA33AA-6FDF-11AF-57AD-47FD75AAD6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B90DEC-F4D6-DE01-8FC7-64A7E2EA5072}"/>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8" name="Footer Placeholder 7">
            <a:extLst>
              <a:ext uri="{FF2B5EF4-FFF2-40B4-BE49-F238E27FC236}">
                <a16:creationId xmlns:a16="http://schemas.microsoft.com/office/drawing/2014/main" id="{121513B6-5245-5CC3-CE46-EE654DCCCD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CA1620-23ED-4843-C72F-A7951FA0AA10}"/>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360267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8F43E-34F0-C890-F27A-6B973A8CBB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E5A941-758B-7E83-24F5-05F748D36EC4}"/>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4" name="Footer Placeholder 3">
            <a:extLst>
              <a:ext uri="{FF2B5EF4-FFF2-40B4-BE49-F238E27FC236}">
                <a16:creationId xmlns:a16="http://schemas.microsoft.com/office/drawing/2014/main" id="{FBFF3421-C6B5-83A5-0BA8-11DA5F194D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72313B-2DE4-AB3E-0574-91A7AA69597F}"/>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1276553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B7002D-7027-8A3F-E318-A5076EF24B8A}"/>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3" name="Footer Placeholder 2">
            <a:extLst>
              <a:ext uri="{FF2B5EF4-FFF2-40B4-BE49-F238E27FC236}">
                <a16:creationId xmlns:a16="http://schemas.microsoft.com/office/drawing/2014/main" id="{650AC11B-B173-6D9F-D0BE-3ADB4E7AED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F7A191-4A07-3947-3CFC-206CE6566F1F}"/>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524862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D96F-E077-11D3-5FC7-10EFC5354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867269-9377-3772-E2D7-73861A259F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B326E5-488C-B4E1-8C8E-4C8631F6E5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78D33A-378D-6E9D-28F9-CAE23CB07BCE}"/>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6" name="Footer Placeholder 5">
            <a:extLst>
              <a:ext uri="{FF2B5EF4-FFF2-40B4-BE49-F238E27FC236}">
                <a16:creationId xmlns:a16="http://schemas.microsoft.com/office/drawing/2014/main" id="{DD696762-CD77-77F7-CD72-DDE1521250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1B8F2E-DBCB-C8AD-B59E-F6B6A724D463}"/>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3628163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BEF-4F27-8FEB-5D78-5A59F24A51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9640B4-6EE2-2AB7-A9BC-F8975025F0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8C6D7B-1ED0-C628-DE37-C3398B217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BB8148-BBCD-8DFF-C2D0-F4BC7DBDD293}"/>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6" name="Footer Placeholder 5">
            <a:extLst>
              <a:ext uri="{FF2B5EF4-FFF2-40B4-BE49-F238E27FC236}">
                <a16:creationId xmlns:a16="http://schemas.microsoft.com/office/drawing/2014/main" id="{698C2FC0-24CB-8818-A66B-B8B9CF1559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4478A6-BCEF-2224-4FE5-1153D56A0494}"/>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1540800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04857-9D16-2F14-2E01-FCA12A958F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C2BEDF-E08F-BFD6-1BC0-3EA915EAA0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4EB8D4-752C-BFF9-0E6C-E0E606336506}"/>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C3DE78C3-FE6F-7F85-9A50-0F58D67032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5FF3E8-31A4-B73E-4542-F9374995268F}"/>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114234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E012DF-E66A-6C8A-A62B-870791BBD3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9E14C8-5BAA-B901-044D-8EBE933B84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0226D-35A4-F2CB-1103-694D23D6458C}"/>
              </a:ext>
            </a:extLst>
          </p:cNvPr>
          <p:cNvSpPr>
            <a:spLocks noGrp="1"/>
          </p:cNvSpPr>
          <p:nvPr>
            <p:ph type="dt" sz="half" idx="10"/>
          </p:nvPr>
        </p:nvSpPr>
        <p:spPr/>
        <p:txBody>
          <a:body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B2CBC7F6-C4A3-DCD5-7454-A9FDBDBE8F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43BE2A-44BC-B286-C267-23C3A014D410}"/>
              </a:ext>
            </a:extLst>
          </p:cNvPr>
          <p:cNvSpPr>
            <a:spLocks noGrp="1"/>
          </p:cNvSpPr>
          <p:nvPr>
            <p:ph type="sldNum" sz="quarter" idx="12"/>
          </p:nvPr>
        </p:nvSpPr>
        <p:spPr/>
        <p:txBody>
          <a:bodyPr/>
          <a:lstStyle/>
          <a:p>
            <a:fld id="{B0FDD852-0577-4CED-956E-AB5D1AC299AA}" type="slidenum">
              <a:rPr lang="en-IN" smtClean="0"/>
              <a:t>‹#›</a:t>
            </a:fld>
            <a:endParaRPr lang="en-IN"/>
          </a:p>
        </p:txBody>
      </p:sp>
    </p:spTree>
    <p:extLst>
      <p:ext uri="{BB962C8B-B14F-4D97-AF65-F5344CB8AC3E}">
        <p14:creationId xmlns:p14="http://schemas.microsoft.com/office/powerpoint/2010/main" val="3285425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665D5C-93F1-1957-53EA-4A3EE3C3E0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A8D284-25E1-C616-5376-E2EF70C6F5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3B65EA-C5B9-F200-6B5E-4D18FDF7CB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5894C3-9B52-452F-B927-687BF4A27D26}" type="datetimeFigureOut">
              <a:rPr lang="en-IN" smtClean="0"/>
              <a:t>26-07-2026</a:t>
            </a:fld>
            <a:endParaRPr lang="en-IN"/>
          </a:p>
        </p:txBody>
      </p:sp>
      <p:sp>
        <p:nvSpPr>
          <p:cNvPr id="5" name="Footer Placeholder 4">
            <a:extLst>
              <a:ext uri="{FF2B5EF4-FFF2-40B4-BE49-F238E27FC236}">
                <a16:creationId xmlns:a16="http://schemas.microsoft.com/office/drawing/2014/main" id="{F5C24D1D-8701-F257-E6AE-4879DBF8F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1712EB0-0D5D-DA05-0C6F-AA48D3730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FDD852-0577-4CED-956E-AB5D1AC299AA}" type="slidenum">
              <a:rPr lang="en-IN" smtClean="0"/>
              <a:t>‹#›</a:t>
            </a:fld>
            <a:endParaRPr lang="en-IN"/>
          </a:p>
        </p:txBody>
      </p:sp>
    </p:spTree>
    <p:extLst>
      <p:ext uri="{BB962C8B-B14F-4D97-AF65-F5344CB8AC3E}">
        <p14:creationId xmlns:p14="http://schemas.microsoft.com/office/powerpoint/2010/main" val="4182628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5033" y="0"/>
            <a:ext cx="5700347" cy="6261958"/>
          </a:xfrm>
        </p:spPr>
      </p:pic>
    </p:spTree>
    <p:extLst>
      <p:ext uri="{BB962C8B-B14F-4D97-AF65-F5344CB8AC3E}">
        <p14:creationId xmlns:p14="http://schemas.microsoft.com/office/powerpoint/2010/main" val="3624805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5817" y="565993"/>
            <a:ext cx="4132498" cy="4351338"/>
          </a:xfrm>
        </p:spPr>
      </p:pic>
    </p:spTree>
    <p:extLst>
      <p:ext uri="{BB962C8B-B14F-4D97-AF65-F5344CB8AC3E}">
        <p14:creationId xmlns:p14="http://schemas.microsoft.com/office/powerpoint/2010/main" val="3140167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1571-077E-6C8A-7620-7768AB0B4DDE}"/>
              </a:ext>
            </a:extLst>
          </p:cNvPr>
          <p:cNvSpPr>
            <a:spLocks noGrp="1"/>
          </p:cNvSpPr>
          <p:nvPr>
            <p:ph type="ctrTitle"/>
          </p:nvPr>
        </p:nvSpPr>
        <p:spPr>
          <a:xfrm>
            <a:off x="859238" y="1373200"/>
            <a:ext cx="10160000" cy="3762363"/>
          </a:xfrm>
        </p:spPr>
        <p:txBody>
          <a:bodyPr>
            <a:noAutofit/>
          </a:bodyPr>
          <a:lstStyle/>
          <a:p>
            <a:r>
              <a:rPr lang="en-IN" sz="2800" dirty="0"/>
              <a:t>A Comparative Study of Infrastructure as a Service (IaaS), Platform as a Service (PaaS), and Software as a Service (SaaS) for Educational Institutions</a:t>
            </a:r>
            <a:br>
              <a:rPr lang="en-IN" sz="2800" dirty="0"/>
            </a:br>
            <a:r>
              <a:rPr lang="en-IN" sz="2800" dirty="0"/>
              <a:t/>
            </a:r>
            <a:br>
              <a:rPr lang="en-IN" sz="2800" dirty="0"/>
            </a:br>
            <a:r>
              <a:rPr lang="en-IN" sz="2800" dirty="0"/>
              <a:t/>
            </a:r>
            <a:br>
              <a:rPr lang="en-IN" sz="2800" dirty="0"/>
            </a:br>
            <a:r>
              <a:rPr lang="en-IN" sz="2800" dirty="0"/>
              <a:t/>
            </a:r>
            <a:br>
              <a:rPr lang="en-IN" sz="2800" dirty="0"/>
            </a:br>
            <a:r>
              <a:rPr lang="en-IN" sz="2800" dirty="0"/>
              <a:t>CSA1522 CLOUD COMPUTING FOR BIG DATA ANALYSIS</a:t>
            </a:r>
            <a:br>
              <a:rPr lang="en-IN" sz="2800" dirty="0"/>
            </a:br>
            <a:r>
              <a:rPr lang="en-IN" sz="2800" dirty="0"/>
              <a:t/>
            </a:r>
            <a:br>
              <a:rPr lang="en-IN" sz="2800" dirty="0"/>
            </a:br>
            <a:r>
              <a:rPr lang="en-IN" sz="2800" dirty="0"/>
              <a:t>CO1-AT2-TECHNICAL PRESENTATION</a:t>
            </a:r>
          </a:p>
        </p:txBody>
      </p:sp>
      <p:sp>
        <p:nvSpPr>
          <p:cNvPr id="3" name="Subtitle 2">
            <a:extLst>
              <a:ext uri="{FF2B5EF4-FFF2-40B4-BE49-F238E27FC236}">
                <a16:creationId xmlns:a16="http://schemas.microsoft.com/office/drawing/2014/main" id="{9FE369D2-1206-D6E3-354C-3D10358A43D9}"/>
              </a:ext>
            </a:extLst>
          </p:cNvPr>
          <p:cNvSpPr>
            <a:spLocks noGrp="1"/>
          </p:cNvSpPr>
          <p:nvPr>
            <p:ph type="subTitle" idx="1"/>
          </p:nvPr>
        </p:nvSpPr>
        <p:spPr>
          <a:xfrm>
            <a:off x="7147403" y="5202238"/>
            <a:ext cx="9144000" cy="1655762"/>
          </a:xfrm>
        </p:spPr>
        <p:txBody>
          <a:bodyPr>
            <a:normAutofit/>
          </a:bodyPr>
          <a:lstStyle/>
          <a:p>
            <a:pPr algn="l"/>
            <a:r>
              <a:rPr lang="en-US" sz="1800" dirty="0" smtClean="0"/>
              <a:t>presented </a:t>
            </a:r>
            <a:r>
              <a:rPr lang="en-US" sz="1800" dirty="0"/>
              <a:t>by </a:t>
            </a:r>
          </a:p>
          <a:p>
            <a:pPr algn="l"/>
            <a:r>
              <a:rPr lang="en-US" sz="1800" dirty="0"/>
              <a:t>Kadiri Sankar Narayana(192325085)</a:t>
            </a:r>
          </a:p>
          <a:p>
            <a:pPr algn="l"/>
            <a:r>
              <a:rPr lang="en-US" sz="1800" dirty="0"/>
              <a:t>Hariprasath(192421246)</a:t>
            </a:r>
            <a:endParaRPr lang="en-IN" sz="1800" dirty="0"/>
          </a:p>
        </p:txBody>
      </p:sp>
      <p:pic>
        <p:nvPicPr>
          <p:cNvPr id="5" name="Image">
            <a:extLst>
              <a:ext uri="{FF2B5EF4-FFF2-40B4-BE49-F238E27FC236}">
                <a16:creationId xmlns:a16="http://schemas.microsoft.com/office/drawing/2014/main" id="{0F25F8FA-7C49-6C59-44E8-3B16D4A0A21B}"/>
              </a:ext>
            </a:extLst>
          </p:cNvPr>
          <p:cNvPicPr>
            <a:picLocks noChangeAspect="1"/>
          </p:cNvPicPr>
          <p:nvPr/>
        </p:nvPicPr>
        <p:blipFill>
          <a:blip r:embed="rId2" cstate="print"/>
          <a:stretch>
            <a:fillRect/>
          </a:stretch>
        </p:blipFill>
        <p:spPr>
          <a:xfrm>
            <a:off x="2350301" y="184162"/>
            <a:ext cx="6555574" cy="1005530"/>
          </a:xfrm>
          <a:prstGeom prst="rect">
            <a:avLst/>
          </a:prstGeom>
          <a:noFill/>
          <a:ln w="12700" cap="flat" cmpd="sng">
            <a:noFill/>
            <a:prstDash val="solid"/>
            <a:miter/>
          </a:ln>
        </p:spPr>
      </p:pic>
      <p:sp>
        <p:nvSpPr>
          <p:cNvPr id="6" name="TextBox 5"/>
          <p:cNvSpPr txBox="1"/>
          <p:nvPr/>
        </p:nvSpPr>
        <p:spPr>
          <a:xfrm>
            <a:off x="790575" y="5248275"/>
            <a:ext cx="2181225" cy="646331"/>
          </a:xfrm>
          <a:prstGeom prst="rect">
            <a:avLst/>
          </a:prstGeom>
          <a:noFill/>
        </p:spPr>
        <p:txBody>
          <a:bodyPr wrap="square" rtlCol="0">
            <a:spAutoFit/>
          </a:bodyPr>
          <a:lstStyle/>
          <a:p>
            <a:r>
              <a:rPr lang="en-US" dirty="0" smtClean="0"/>
              <a:t>Guided by</a:t>
            </a:r>
          </a:p>
          <a:p>
            <a:r>
              <a:rPr lang="en-US" dirty="0" err="1" smtClean="0"/>
              <a:t>DR.P.Rajaram</a:t>
            </a:r>
            <a:endParaRPr lang="en-IN" dirty="0"/>
          </a:p>
        </p:txBody>
      </p:sp>
    </p:spTree>
    <p:extLst>
      <p:ext uri="{BB962C8B-B14F-4D97-AF65-F5344CB8AC3E}">
        <p14:creationId xmlns:p14="http://schemas.microsoft.com/office/powerpoint/2010/main" val="342580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09FD9-6D6C-E148-922D-9EE4D1D0D2DF}"/>
              </a:ext>
            </a:extLst>
          </p:cNvPr>
          <p:cNvSpPr>
            <a:spLocks noGrp="1"/>
          </p:cNvSpPr>
          <p:nvPr>
            <p:ph type="title"/>
          </p:nvPr>
        </p:nvSpPr>
        <p:spPr/>
        <p:txBody>
          <a:bodyPr/>
          <a:lstStyle/>
          <a:p>
            <a:r>
              <a:rPr lang="en-IN" dirty="0"/>
              <a:t>Introduction to Cloud Computing</a:t>
            </a:r>
          </a:p>
        </p:txBody>
      </p:sp>
      <p:sp>
        <p:nvSpPr>
          <p:cNvPr id="3" name="Content Placeholder 2">
            <a:extLst>
              <a:ext uri="{FF2B5EF4-FFF2-40B4-BE49-F238E27FC236}">
                <a16:creationId xmlns:a16="http://schemas.microsoft.com/office/drawing/2014/main" id="{FC236F2D-3014-6696-273B-055BE4539798}"/>
              </a:ext>
            </a:extLst>
          </p:cNvPr>
          <p:cNvSpPr>
            <a:spLocks noGrp="1"/>
          </p:cNvSpPr>
          <p:nvPr>
            <p:ph idx="1"/>
          </p:nvPr>
        </p:nvSpPr>
        <p:spPr/>
        <p:txBody>
          <a:bodyPr>
            <a:normAutofit fontScale="70000" lnSpcReduction="20000"/>
          </a:bodyPr>
          <a:lstStyle/>
          <a:p>
            <a:r>
              <a:rPr lang="en-IN" b="1" dirty="0"/>
              <a:t>What is Cloud Computing?</a:t>
            </a:r>
          </a:p>
          <a:p>
            <a:r>
              <a:rPr lang="en-IN" dirty="0"/>
              <a:t>Cloud computing is the delivery of computing services such as servers, storage, databases, networking, and software over the Internet. It allows users to access resources on demand without owning physical infrastructure.</a:t>
            </a:r>
          </a:p>
          <a:p>
            <a:r>
              <a:rPr lang="en-IN" b="1" dirty="0"/>
              <a:t>Key Characteristics</a:t>
            </a:r>
          </a:p>
          <a:p>
            <a:r>
              <a:rPr lang="en-IN" dirty="0"/>
              <a:t>On-demand resource availability </a:t>
            </a:r>
          </a:p>
          <a:p>
            <a:r>
              <a:rPr lang="en-IN" dirty="0"/>
              <a:t>Internet-based access </a:t>
            </a:r>
          </a:p>
          <a:p>
            <a:r>
              <a:rPr lang="en-IN" dirty="0"/>
              <a:t>Resource sharing </a:t>
            </a:r>
          </a:p>
          <a:p>
            <a:r>
              <a:rPr lang="en-IN" dirty="0"/>
              <a:t>Automatic scalability </a:t>
            </a:r>
          </a:p>
          <a:p>
            <a:r>
              <a:rPr lang="en-IN" dirty="0"/>
              <a:t>Pay-as-you-use pricing </a:t>
            </a:r>
          </a:p>
          <a:p>
            <a:r>
              <a:rPr lang="en-IN" b="1" dirty="0"/>
              <a:t>Why It Matters</a:t>
            </a:r>
          </a:p>
          <a:p>
            <a:r>
              <a:rPr lang="en-IN" dirty="0"/>
              <a:t>Cloud computing reduces costs, improves flexibility, and enables secure access to applications from anywhere.</a:t>
            </a:r>
          </a:p>
          <a:p>
            <a:endParaRPr lang="en-IN" dirty="0"/>
          </a:p>
        </p:txBody>
      </p:sp>
    </p:spTree>
    <p:extLst>
      <p:ext uri="{BB962C8B-B14F-4D97-AF65-F5344CB8AC3E}">
        <p14:creationId xmlns:p14="http://schemas.microsoft.com/office/powerpoint/2010/main" val="2579446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AA33-7F1F-3B99-6605-08D0129FEFF4}"/>
              </a:ext>
            </a:extLst>
          </p:cNvPr>
          <p:cNvSpPr>
            <a:spLocks noGrp="1"/>
          </p:cNvSpPr>
          <p:nvPr>
            <p:ph type="title"/>
          </p:nvPr>
        </p:nvSpPr>
        <p:spPr/>
        <p:txBody>
          <a:bodyPr/>
          <a:lstStyle/>
          <a:p>
            <a:r>
              <a:rPr lang="en-IN" dirty="0"/>
              <a:t>Objectives &amp; Need for Cloud</a:t>
            </a:r>
          </a:p>
        </p:txBody>
      </p:sp>
      <p:sp>
        <p:nvSpPr>
          <p:cNvPr id="3" name="Content Placeholder 2">
            <a:extLst>
              <a:ext uri="{FF2B5EF4-FFF2-40B4-BE49-F238E27FC236}">
                <a16:creationId xmlns:a16="http://schemas.microsoft.com/office/drawing/2014/main" id="{A240D27C-A3E1-CD59-2BE3-C64DB9378F15}"/>
              </a:ext>
            </a:extLst>
          </p:cNvPr>
          <p:cNvSpPr>
            <a:spLocks noGrp="1"/>
          </p:cNvSpPr>
          <p:nvPr>
            <p:ph idx="1"/>
          </p:nvPr>
        </p:nvSpPr>
        <p:spPr/>
        <p:txBody>
          <a:bodyPr>
            <a:normAutofit fontScale="77500" lnSpcReduction="20000"/>
          </a:bodyPr>
          <a:lstStyle/>
          <a:p>
            <a:r>
              <a:rPr lang="en-IN" b="1" dirty="0"/>
              <a:t>Presentation Objectives</a:t>
            </a:r>
          </a:p>
          <a:p>
            <a:r>
              <a:rPr lang="en-IN" dirty="0"/>
              <a:t>Understand cloud computing fundamentals. </a:t>
            </a:r>
          </a:p>
          <a:p>
            <a:r>
              <a:rPr lang="en-IN" dirty="0"/>
              <a:t>Learn the three cloud service models. </a:t>
            </a:r>
          </a:p>
          <a:p>
            <a:r>
              <a:rPr lang="en-IN" dirty="0"/>
              <a:t>Compare IaaS, PaaS, and SaaS. </a:t>
            </a:r>
          </a:p>
          <a:p>
            <a:r>
              <a:rPr lang="en-IN" dirty="0"/>
              <a:t>Explore their architecture and applications. </a:t>
            </a:r>
          </a:p>
          <a:p>
            <a:r>
              <a:rPr lang="en-IN" dirty="0"/>
              <a:t>Understand their role in educational institutions. </a:t>
            </a:r>
          </a:p>
          <a:p>
            <a:r>
              <a:rPr lang="en-IN" b="1" dirty="0"/>
              <a:t>Need for Cloud Computing</a:t>
            </a:r>
          </a:p>
          <a:p>
            <a:r>
              <a:rPr lang="en-IN" dirty="0"/>
              <a:t>Reduces infrastructure costs. </a:t>
            </a:r>
          </a:p>
          <a:p>
            <a:r>
              <a:rPr lang="en-IN" dirty="0"/>
              <a:t>Supports remote learning. </a:t>
            </a:r>
          </a:p>
          <a:p>
            <a:r>
              <a:rPr lang="en-IN" dirty="0"/>
              <a:t>Enables collaboration. </a:t>
            </a:r>
          </a:p>
          <a:p>
            <a:r>
              <a:rPr lang="en-IN" dirty="0"/>
              <a:t>Provides high availability. </a:t>
            </a:r>
          </a:p>
          <a:p>
            <a:r>
              <a:rPr lang="en-IN" dirty="0"/>
              <a:t>Improves data backup and recovery.</a:t>
            </a:r>
          </a:p>
          <a:p>
            <a:endParaRPr lang="en-IN" dirty="0"/>
          </a:p>
        </p:txBody>
      </p:sp>
    </p:spTree>
    <p:extLst>
      <p:ext uri="{BB962C8B-B14F-4D97-AF65-F5344CB8AC3E}">
        <p14:creationId xmlns:p14="http://schemas.microsoft.com/office/powerpoint/2010/main" val="3062596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856AE-AC36-62BB-DDF7-2A87F5A5E8BD}"/>
              </a:ext>
            </a:extLst>
          </p:cNvPr>
          <p:cNvSpPr>
            <a:spLocks noGrp="1"/>
          </p:cNvSpPr>
          <p:nvPr>
            <p:ph type="title"/>
          </p:nvPr>
        </p:nvSpPr>
        <p:spPr/>
        <p:txBody>
          <a:bodyPr/>
          <a:lstStyle/>
          <a:p>
            <a:r>
              <a:rPr lang="en-IN" dirty="0"/>
              <a:t>Infrastructure as a Service (IaaS)</a:t>
            </a:r>
          </a:p>
        </p:txBody>
      </p:sp>
      <p:sp>
        <p:nvSpPr>
          <p:cNvPr id="3" name="Content Placeholder 2">
            <a:extLst>
              <a:ext uri="{FF2B5EF4-FFF2-40B4-BE49-F238E27FC236}">
                <a16:creationId xmlns:a16="http://schemas.microsoft.com/office/drawing/2014/main" id="{5936DD79-C975-6416-3C23-0CB67015F976}"/>
              </a:ext>
            </a:extLst>
          </p:cNvPr>
          <p:cNvSpPr>
            <a:spLocks noGrp="1"/>
          </p:cNvSpPr>
          <p:nvPr>
            <p:ph idx="1"/>
          </p:nvPr>
        </p:nvSpPr>
        <p:spPr/>
        <p:txBody>
          <a:bodyPr>
            <a:normAutofit fontScale="55000" lnSpcReduction="20000"/>
          </a:bodyPr>
          <a:lstStyle/>
          <a:p>
            <a:r>
              <a:rPr lang="en-IN" b="1" dirty="0"/>
              <a:t>Infrastructure as a Service (IaaS)</a:t>
            </a:r>
          </a:p>
          <a:p>
            <a:r>
              <a:rPr lang="en-IN" dirty="0"/>
              <a:t>IaaS provides virtual computing resources such as servers, storage, and networking over the Internet.</a:t>
            </a:r>
          </a:p>
          <a:p>
            <a:r>
              <a:rPr lang="en-IN" b="1" dirty="0"/>
              <a:t>Features</a:t>
            </a:r>
          </a:p>
          <a:p>
            <a:r>
              <a:rPr lang="en-IN" dirty="0"/>
              <a:t>Virtual Machines </a:t>
            </a:r>
          </a:p>
          <a:p>
            <a:r>
              <a:rPr lang="en-IN" dirty="0"/>
              <a:t>Cloud Storage </a:t>
            </a:r>
          </a:p>
          <a:p>
            <a:r>
              <a:rPr lang="en-IN" dirty="0"/>
              <a:t>Networking Services </a:t>
            </a:r>
          </a:p>
          <a:p>
            <a:r>
              <a:rPr lang="en-IN" dirty="0"/>
              <a:t>High Scalability </a:t>
            </a:r>
          </a:p>
          <a:p>
            <a:r>
              <a:rPr lang="en-IN" dirty="0"/>
              <a:t>Flexible Resource Allocation </a:t>
            </a:r>
          </a:p>
          <a:p>
            <a:r>
              <a:rPr lang="en-IN" b="1" dirty="0"/>
              <a:t>Advantages</a:t>
            </a:r>
          </a:p>
          <a:p>
            <a:r>
              <a:rPr lang="en-IN" dirty="0"/>
              <a:t>Full infrastructure control </a:t>
            </a:r>
          </a:p>
          <a:p>
            <a:r>
              <a:rPr lang="en-IN" dirty="0"/>
              <a:t>Cost-effective </a:t>
            </a:r>
          </a:p>
          <a:p>
            <a:r>
              <a:rPr lang="en-IN" dirty="0"/>
              <a:t>Easy resource expansion </a:t>
            </a:r>
          </a:p>
          <a:p>
            <a:r>
              <a:rPr lang="en-IN" b="1" dirty="0"/>
              <a:t>Examples</a:t>
            </a:r>
          </a:p>
          <a:p>
            <a:r>
              <a:rPr lang="en-IN" dirty="0"/>
              <a:t>AWS EC2, Azure Virtual Machines, Google Compute Engine</a:t>
            </a:r>
          </a:p>
          <a:p>
            <a:endParaRPr lang="en-IN" dirty="0"/>
          </a:p>
        </p:txBody>
      </p:sp>
    </p:spTree>
    <p:extLst>
      <p:ext uri="{BB962C8B-B14F-4D97-AF65-F5344CB8AC3E}">
        <p14:creationId xmlns:p14="http://schemas.microsoft.com/office/powerpoint/2010/main" val="3351061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0348B-56A9-2B58-CF6F-0C8A9862C10A}"/>
              </a:ext>
            </a:extLst>
          </p:cNvPr>
          <p:cNvSpPr>
            <a:spLocks noGrp="1"/>
          </p:cNvSpPr>
          <p:nvPr>
            <p:ph type="title"/>
          </p:nvPr>
        </p:nvSpPr>
        <p:spPr/>
        <p:txBody>
          <a:bodyPr/>
          <a:lstStyle/>
          <a:p>
            <a:r>
              <a:rPr lang="en-IN" dirty="0"/>
              <a:t>Platform as a Service (PaaS)</a:t>
            </a:r>
          </a:p>
        </p:txBody>
      </p:sp>
      <p:sp>
        <p:nvSpPr>
          <p:cNvPr id="3" name="Content Placeholder 2">
            <a:extLst>
              <a:ext uri="{FF2B5EF4-FFF2-40B4-BE49-F238E27FC236}">
                <a16:creationId xmlns:a16="http://schemas.microsoft.com/office/drawing/2014/main" id="{660D7D1C-232C-296A-867A-A6E304763381}"/>
              </a:ext>
            </a:extLst>
          </p:cNvPr>
          <p:cNvSpPr>
            <a:spLocks noGrp="1"/>
          </p:cNvSpPr>
          <p:nvPr>
            <p:ph idx="1"/>
          </p:nvPr>
        </p:nvSpPr>
        <p:spPr/>
        <p:txBody>
          <a:bodyPr>
            <a:normAutofit fontScale="55000" lnSpcReduction="20000"/>
          </a:bodyPr>
          <a:lstStyle/>
          <a:p>
            <a:r>
              <a:rPr lang="en-IN" b="1" dirty="0"/>
              <a:t>Platform as a Service (PaaS)</a:t>
            </a:r>
          </a:p>
          <a:p>
            <a:r>
              <a:rPr lang="en-IN" dirty="0"/>
              <a:t>PaaS provides developers with a complete platform to build, test, and deploy applications without managing servers.</a:t>
            </a:r>
          </a:p>
          <a:p>
            <a:r>
              <a:rPr lang="en-IN" b="1" dirty="0"/>
              <a:t>Features</a:t>
            </a:r>
          </a:p>
          <a:p>
            <a:r>
              <a:rPr lang="en-IN" dirty="0"/>
              <a:t>Development Environment </a:t>
            </a:r>
          </a:p>
          <a:p>
            <a:r>
              <a:rPr lang="en-IN" dirty="0"/>
              <a:t>Database Services </a:t>
            </a:r>
          </a:p>
          <a:p>
            <a:r>
              <a:rPr lang="en-IN" dirty="0"/>
              <a:t>Runtime Support </a:t>
            </a:r>
          </a:p>
          <a:p>
            <a:r>
              <a:rPr lang="en-IN" dirty="0"/>
              <a:t>Deployment Tools </a:t>
            </a:r>
          </a:p>
          <a:p>
            <a:r>
              <a:rPr lang="en-IN" dirty="0"/>
              <a:t>Automatic Updates </a:t>
            </a:r>
          </a:p>
          <a:p>
            <a:r>
              <a:rPr lang="en-IN" b="1" dirty="0"/>
              <a:t>Advantages</a:t>
            </a:r>
          </a:p>
          <a:p>
            <a:r>
              <a:rPr lang="en-IN" dirty="0"/>
              <a:t>Faster application development </a:t>
            </a:r>
          </a:p>
          <a:p>
            <a:r>
              <a:rPr lang="en-IN" dirty="0"/>
              <a:t>Reduced maintenance </a:t>
            </a:r>
          </a:p>
          <a:p>
            <a:r>
              <a:rPr lang="en-IN" dirty="0"/>
              <a:t>Improved productivity </a:t>
            </a:r>
          </a:p>
          <a:p>
            <a:r>
              <a:rPr lang="en-IN" b="1" dirty="0"/>
              <a:t>Examples</a:t>
            </a:r>
          </a:p>
          <a:p>
            <a:r>
              <a:rPr lang="en-IN" dirty="0"/>
              <a:t>Google App Engine, Azure App Service, Heroku</a:t>
            </a:r>
          </a:p>
          <a:p>
            <a:endParaRPr lang="en-IN" dirty="0"/>
          </a:p>
        </p:txBody>
      </p:sp>
    </p:spTree>
    <p:extLst>
      <p:ext uri="{BB962C8B-B14F-4D97-AF65-F5344CB8AC3E}">
        <p14:creationId xmlns:p14="http://schemas.microsoft.com/office/powerpoint/2010/main" val="107698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BD71-C5DA-1C3B-3D18-89B049A438D4}"/>
              </a:ext>
            </a:extLst>
          </p:cNvPr>
          <p:cNvSpPr>
            <a:spLocks noGrp="1"/>
          </p:cNvSpPr>
          <p:nvPr>
            <p:ph type="title"/>
          </p:nvPr>
        </p:nvSpPr>
        <p:spPr>
          <a:xfrm>
            <a:off x="838200" y="283104"/>
            <a:ext cx="10515600" cy="1325563"/>
          </a:xfrm>
        </p:spPr>
        <p:txBody>
          <a:bodyPr/>
          <a:lstStyle/>
          <a:p>
            <a:r>
              <a:rPr lang="en-IN" dirty="0"/>
              <a:t>Software as a Service (SaaS)</a:t>
            </a:r>
          </a:p>
        </p:txBody>
      </p:sp>
      <p:sp>
        <p:nvSpPr>
          <p:cNvPr id="3" name="Content Placeholder 2">
            <a:extLst>
              <a:ext uri="{FF2B5EF4-FFF2-40B4-BE49-F238E27FC236}">
                <a16:creationId xmlns:a16="http://schemas.microsoft.com/office/drawing/2014/main" id="{8676CF7D-C2C7-A6AD-D04E-6BEA670C9401}"/>
              </a:ext>
            </a:extLst>
          </p:cNvPr>
          <p:cNvSpPr>
            <a:spLocks noGrp="1"/>
          </p:cNvSpPr>
          <p:nvPr>
            <p:ph idx="1"/>
          </p:nvPr>
        </p:nvSpPr>
        <p:spPr/>
        <p:txBody>
          <a:bodyPr>
            <a:normAutofit fontScale="85000" lnSpcReduction="20000"/>
          </a:bodyPr>
          <a:lstStyle/>
          <a:p>
            <a:r>
              <a:rPr lang="en-IN" b="1" dirty="0"/>
              <a:t>Software as a Service (SaaS)</a:t>
            </a:r>
          </a:p>
          <a:p>
            <a:r>
              <a:rPr lang="en-IN" dirty="0"/>
              <a:t>SaaS delivers ready-to-use software applications through a web browser. Users only need an Internet connection to access the software.</a:t>
            </a:r>
          </a:p>
          <a:p>
            <a:r>
              <a:rPr lang="en-IN" b="1" dirty="0"/>
              <a:t>Features</a:t>
            </a:r>
          </a:p>
          <a:p>
            <a:r>
              <a:rPr lang="en-IN" dirty="0"/>
              <a:t>Browser-based access </a:t>
            </a:r>
          </a:p>
          <a:p>
            <a:r>
              <a:rPr lang="en-IN" dirty="0"/>
              <a:t>Subscription model </a:t>
            </a:r>
          </a:p>
          <a:p>
            <a:r>
              <a:rPr lang="en-IN" dirty="0"/>
              <a:t>Automatic updates </a:t>
            </a:r>
          </a:p>
          <a:p>
            <a:r>
              <a:rPr lang="en-IN" dirty="0"/>
              <a:t>Easy collaboration </a:t>
            </a:r>
          </a:p>
          <a:p>
            <a:r>
              <a:rPr lang="en-IN" dirty="0"/>
              <a:t>Multi-device support </a:t>
            </a:r>
          </a:p>
          <a:p>
            <a:r>
              <a:rPr lang="en-IN" b="1" dirty="0"/>
              <a:t>Examples</a:t>
            </a:r>
          </a:p>
          <a:p>
            <a:r>
              <a:rPr lang="en-IN" dirty="0"/>
              <a:t>Google Classroom, Microsoft 365, Zoom, Salesforce</a:t>
            </a:r>
          </a:p>
          <a:p>
            <a:endParaRPr lang="en-IN" dirty="0"/>
          </a:p>
        </p:txBody>
      </p:sp>
    </p:spTree>
    <p:extLst>
      <p:ext uri="{BB962C8B-B14F-4D97-AF65-F5344CB8AC3E}">
        <p14:creationId xmlns:p14="http://schemas.microsoft.com/office/powerpoint/2010/main" val="350276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1BA5-A444-D12E-3C3F-7236FDD95154}"/>
              </a:ext>
            </a:extLst>
          </p:cNvPr>
          <p:cNvSpPr>
            <a:spLocks noGrp="1"/>
          </p:cNvSpPr>
          <p:nvPr>
            <p:ph type="title"/>
          </p:nvPr>
        </p:nvSpPr>
        <p:spPr/>
        <p:txBody>
          <a:bodyPr>
            <a:normAutofit/>
          </a:bodyPr>
          <a:lstStyle/>
          <a:p>
            <a:r>
              <a:rPr lang="en-IN" sz="3600" dirty="0"/>
              <a:t>Comparison of IaaS, PaaS and SaaS</a:t>
            </a:r>
          </a:p>
        </p:txBody>
      </p:sp>
      <p:graphicFrame>
        <p:nvGraphicFramePr>
          <p:cNvPr id="4" name="Content Placeholder 3">
            <a:extLst>
              <a:ext uri="{FF2B5EF4-FFF2-40B4-BE49-F238E27FC236}">
                <a16:creationId xmlns:a16="http://schemas.microsoft.com/office/drawing/2014/main" id="{10B13E67-0F43-4E17-B079-5F11B13868C8}"/>
              </a:ext>
            </a:extLst>
          </p:cNvPr>
          <p:cNvGraphicFramePr>
            <a:graphicFrameLocks noGrp="1"/>
          </p:cNvGraphicFramePr>
          <p:nvPr>
            <p:ph idx="1"/>
            <p:extLst>
              <p:ext uri="{D42A27DB-BD31-4B8C-83A1-F6EECF244321}">
                <p14:modId xmlns:p14="http://schemas.microsoft.com/office/powerpoint/2010/main" val="1886161002"/>
              </p:ext>
            </p:extLst>
          </p:nvPr>
        </p:nvGraphicFramePr>
        <p:xfrm>
          <a:off x="838200" y="1993000"/>
          <a:ext cx="10515600" cy="2560320"/>
        </p:xfrm>
        <a:graphic>
          <a:graphicData uri="http://schemas.openxmlformats.org/drawingml/2006/table">
            <a:tbl>
              <a:tblPr/>
              <a:tblGrid>
                <a:gridCol w="2628900">
                  <a:extLst>
                    <a:ext uri="{9D8B030D-6E8A-4147-A177-3AD203B41FA5}">
                      <a16:colId xmlns:a16="http://schemas.microsoft.com/office/drawing/2014/main" val="439609610"/>
                    </a:ext>
                  </a:extLst>
                </a:gridCol>
                <a:gridCol w="2628900">
                  <a:extLst>
                    <a:ext uri="{9D8B030D-6E8A-4147-A177-3AD203B41FA5}">
                      <a16:colId xmlns:a16="http://schemas.microsoft.com/office/drawing/2014/main" val="1028590069"/>
                    </a:ext>
                  </a:extLst>
                </a:gridCol>
                <a:gridCol w="2628900">
                  <a:extLst>
                    <a:ext uri="{9D8B030D-6E8A-4147-A177-3AD203B41FA5}">
                      <a16:colId xmlns:a16="http://schemas.microsoft.com/office/drawing/2014/main" val="3752789276"/>
                    </a:ext>
                  </a:extLst>
                </a:gridCol>
                <a:gridCol w="2628900">
                  <a:extLst>
                    <a:ext uri="{9D8B030D-6E8A-4147-A177-3AD203B41FA5}">
                      <a16:colId xmlns:a16="http://schemas.microsoft.com/office/drawing/2014/main" val="657530412"/>
                    </a:ext>
                  </a:extLst>
                </a:gridCol>
              </a:tblGrid>
              <a:tr h="0">
                <a:tc>
                  <a:txBody>
                    <a:bodyPr/>
                    <a:lstStyle/>
                    <a:p>
                      <a:pPr>
                        <a:buNone/>
                      </a:pPr>
                      <a:r>
                        <a:rPr lang="en-IN" b="1"/>
                        <a:t>Feature</a:t>
                      </a:r>
                      <a:endParaRPr lang="en-IN"/>
                    </a:p>
                  </a:txBody>
                  <a:tcPr anchor="ctr">
                    <a:lnL>
                      <a:noFill/>
                    </a:lnL>
                    <a:lnR>
                      <a:noFill/>
                    </a:lnR>
                    <a:lnT>
                      <a:noFill/>
                    </a:lnT>
                    <a:lnB>
                      <a:noFill/>
                    </a:lnB>
                    <a:noFill/>
                  </a:tcPr>
                </a:tc>
                <a:tc>
                  <a:txBody>
                    <a:bodyPr/>
                    <a:lstStyle/>
                    <a:p>
                      <a:pPr>
                        <a:buNone/>
                      </a:pPr>
                      <a:r>
                        <a:rPr lang="en-IN" b="1"/>
                        <a:t>IaaS</a:t>
                      </a:r>
                      <a:endParaRPr lang="en-IN"/>
                    </a:p>
                  </a:txBody>
                  <a:tcPr anchor="ctr">
                    <a:lnL>
                      <a:noFill/>
                    </a:lnL>
                    <a:lnR>
                      <a:noFill/>
                    </a:lnR>
                    <a:lnT>
                      <a:noFill/>
                    </a:lnT>
                    <a:lnB>
                      <a:noFill/>
                    </a:lnB>
                    <a:noFill/>
                  </a:tcPr>
                </a:tc>
                <a:tc>
                  <a:txBody>
                    <a:bodyPr/>
                    <a:lstStyle/>
                    <a:p>
                      <a:pPr>
                        <a:buNone/>
                      </a:pPr>
                      <a:r>
                        <a:rPr lang="en-IN" b="1"/>
                        <a:t>PaaS</a:t>
                      </a:r>
                      <a:endParaRPr lang="en-IN"/>
                    </a:p>
                  </a:txBody>
                  <a:tcPr anchor="ctr">
                    <a:lnL>
                      <a:noFill/>
                    </a:lnL>
                    <a:lnR>
                      <a:noFill/>
                    </a:lnR>
                    <a:lnT>
                      <a:noFill/>
                    </a:lnT>
                    <a:lnB>
                      <a:noFill/>
                    </a:lnB>
                    <a:noFill/>
                  </a:tcPr>
                </a:tc>
                <a:tc>
                  <a:txBody>
                    <a:bodyPr/>
                    <a:lstStyle/>
                    <a:p>
                      <a:pPr>
                        <a:buNone/>
                      </a:pPr>
                      <a:r>
                        <a:rPr lang="en-IN" b="1"/>
                        <a:t>SaaS</a:t>
                      </a:r>
                      <a:endParaRPr lang="en-IN"/>
                    </a:p>
                  </a:txBody>
                  <a:tcPr anchor="ctr">
                    <a:lnL>
                      <a:noFill/>
                    </a:lnL>
                    <a:lnR>
                      <a:noFill/>
                    </a:lnR>
                    <a:lnT>
                      <a:noFill/>
                    </a:lnT>
                    <a:lnB>
                      <a:noFill/>
                    </a:lnB>
                    <a:noFill/>
                  </a:tcPr>
                </a:tc>
                <a:extLst>
                  <a:ext uri="{0D108BD9-81ED-4DB2-BD59-A6C34878D82A}">
                    <a16:rowId xmlns:a16="http://schemas.microsoft.com/office/drawing/2014/main" val="2842536795"/>
                  </a:ext>
                </a:extLst>
              </a:tr>
              <a:tr h="0">
                <a:tc>
                  <a:txBody>
                    <a:bodyPr/>
                    <a:lstStyle/>
                    <a:p>
                      <a:pPr>
                        <a:buNone/>
                      </a:pPr>
                      <a:r>
                        <a:rPr lang="en-IN"/>
                        <a:t>Main Users</a:t>
                      </a:r>
                    </a:p>
                  </a:txBody>
                  <a:tcPr anchor="ctr">
                    <a:lnL>
                      <a:noFill/>
                    </a:lnL>
                    <a:lnR>
                      <a:noFill/>
                    </a:lnR>
                    <a:lnT>
                      <a:noFill/>
                    </a:lnT>
                    <a:lnB>
                      <a:noFill/>
                    </a:lnB>
                    <a:noFill/>
                  </a:tcPr>
                </a:tc>
                <a:tc>
                  <a:txBody>
                    <a:bodyPr/>
                    <a:lstStyle/>
                    <a:p>
                      <a:pPr>
                        <a:buNone/>
                      </a:pPr>
                      <a:r>
                        <a:rPr lang="en-IN"/>
                        <a:t>IT Teams</a:t>
                      </a:r>
                    </a:p>
                  </a:txBody>
                  <a:tcPr anchor="ctr">
                    <a:lnL>
                      <a:noFill/>
                    </a:lnL>
                    <a:lnR>
                      <a:noFill/>
                    </a:lnR>
                    <a:lnT>
                      <a:noFill/>
                    </a:lnT>
                    <a:lnB>
                      <a:noFill/>
                    </a:lnB>
                    <a:noFill/>
                  </a:tcPr>
                </a:tc>
                <a:tc>
                  <a:txBody>
                    <a:bodyPr/>
                    <a:lstStyle/>
                    <a:p>
                      <a:pPr>
                        <a:buNone/>
                      </a:pPr>
                      <a:r>
                        <a:rPr lang="en-IN"/>
                        <a:t>Developers</a:t>
                      </a:r>
                    </a:p>
                  </a:txBody>
                  <a:tcPr anchor="ctr">
                    <a:lnL>
                      <a:noFill/>
                    </a:lnL>
                    <a:lnR>
                      <a:noFill/>
                    </a:lnR>
                    <a:lnT>
                      <a:noFill/>
                    </a:lnT>
                    <a:lnB>
                      <a:noFill/>
                    </a:lnB>
                    <a:noFill/>
                  </a:tcPr>
                </a:tc>
                <a:tc>
                  <a:txBody>
                    <a:bodyPr/>
                    <a:lstStyle/>
                    <a:p>
                      <a:pPr>
                        <a:buNone/>
                      </a:pPr>
                      <a:r>
                        <a:rPr lang="en-IN"/>
                        <a:t>End Users</a:t>
                      </a:r>
                    </a:p>
                  </a:txBody>
                  <a:tcPr anchor="ctr">
                    <a:lnL>
                      <a:noFill/>
                    </a:lnL>
                    <a:lnR>
                      <a:noFill/>
                    </a:lnR>
                    <a:lnT>
                      <a:noFill/>
                    </a:lnT>
                    <a:lnB>
                      <a:noFill/>
                    </a:lnB>
                    <a:noFill/>
                  </a:tcPr>
                </a:tc>
                <a:extLst>
                  <a:ext uri="{0D108BD9-81ED-4DB2-BD59-A6C34878D82A}">
                    <a16:rowId xmlns:a16="http://schemas.microsoft.com/office/drawing/2014/main" val="2954647541"/>
                  </a:ext>
                </a:extLst>
              </a:tr>
              <a:tr h="0">
                <a:tc>
                  <a:txBody>
                    <a:bodyPr/>
                    <a:lstStyle/>
                    <a:p>
                      <a:pPr>
                        <a:buNone/>
                      </a:pPr>
                      <a:r>
                        <a:rPr lang="en-IN"/>
                        <a:t>User Control</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extLst>
                  <a:ext uri="{0D108BD9-81ED-4DB2-BD59-A6C34878D82A}">
                    <a16:rowId xmlns:a16="http://schemas.microsoft.com/office/drawing/2014/main" val="1120955538"/>
                  </a:ext>
                </a:extLst>
              </a:tr>
              <a:tr h="0">
                <a:tc>
                  <a:txBody>
                    <a:bodyPr/>
                    <a:lstStyle/>
                    <a:p>
                      <a:pPr>
                        <a:buNone/>
                      </a:pPr>
                      <a:r>
                        <a:rPr lang="en-IN"/>
                        <a:t>Maintenance</a:t>
                      </a:r>
                    </a:p>
                  </a:txBody>
                  <a:tcPr anchor="ctr">
                    <a:lnL>
                      <a:noFill/>
                    </a:lnL>
                    <a:lnR>
                      <a:noFill/>
                    </a:lnR>
                    <a:lnT>
                      <a:noFill/>
                    </a:lnT>
                    <a:lnB>
                      <a:noFill/>
                    </a:lnB>
                    <a:noFill/>
                  </a:tcPr>
                </a:tc>
                <a:tc>
                  <a:txBody>
                    <a:bodyPr/>
                    <a:lstStyle/>
                    <a:p>
                      <a:pPr>
                        <a:buNone/>
                      </a:pPr>
                      <a:r>
                        <a:rPr lang="en-IN"/>
                        <a:t>User</a:t>
                      </a:r>
                    </a:p>
                  </a:txBody>
                  <a:tcPr anchor="ctr">
                    <a:lnL>
                      <a:noFill/>
                    </a:lnL>
                    <a:lnR>
                      <a:noFill/>
                    </a:lnR>
                    <a:lnT>
                      <a:noFill/>
                    </a:lnT>
                    <a:lnB>
                      <a:noFill/>
                    </a:lnB>
                    <a:noFill/>
                  </a:tcPr>
                </a:tc>
                <a:tc>
                  <a:txBody>
                    <a:bodyPr/>
                    <a:lstStyle/>
                    <a:p>
                      <a:pPr>
                        <a:buNone/>
                      </a:pPr>
                      <a:r>
                        <a:rPr lang="en-IN"/>
                        <a:t>Shared</a:t>
                      </a:r>
                    </a:p>
                  </a:txBody>
                  <a:tcPr anchor="ctr">
                    <a:lnL>
                      <a:noFill/>
                    </a:lnL>
                    <a:lnR>
                      <a:noFill/>
                    </a:lnR>
                    <a:lnT>
                      <a:noFill/>
                    </a:lnT>
                    <a:lnB>
                      <a:noFill/>
                    </a:lnB>
                    <a:noFill/>
                  </a:tcPr>
                </a:tc>
                <a:tc>
                  <a:txBody>
                    <a:bodyPr/>
                    <a:lstStyle/>
                    <a:p>
                      <a:pPr>
                        <a:buNone/>
                      </a:pPr>
                      <a:r>
                        <a:rPr lang="en-IN"/>
                        <a:t>Provider</a:t>
                      </a:r>
                    </a:p>
                  </a:txBody>
                  <a:tcPr anchor="ctr">
                    <a:lnL>
                      <a:noFill/>
                    </a:lnL>
                    <a:lnR>
                      <a:noFill/>
                    </a:lnR>
                    <a:lnT>
                      <a:noFill/>
                    </a:lnT>
                    <a:lnB>
                      <a:noFill/>
                    </a:lnB>
                    <a:noFill/>
                  </a:tcPr>
                </a:tc>
                <a:extLst>
                  <a:ext uri="{0D108BD9-81ED-4DB2-BD59-A6C34878D82A}">
                    <a16:rowId xmlns:a16="http://schemas.microsoft.com/office/drawing/2014/main" val="4041957964"/>
                  </a:ext>
                </a:extLst>
              </a:tr>
              <a:tr h="0">
                <a:tc>
                  <a:txBody>
                    <a:bodyPr/>
                    <a:lstStyle/>
                    <a:p>
                      <a:pPr>
                        <a:buNone/>
                      </a:pPr>
                      <a:r>
                        <a:rPr lang="en-IN"/>
                        <a:t>Deployment</a:t>
                      </a:r>
                    </a:p>
                  </a:txBody>
                  <a:tcPr anchor="ctr">
                    <a:lnL>
                      <a:noFill/>
                    </a:lnL>
                    <a:lnR>
                      <a:noFill/>
                    </a:lnR>
                    <a:lnT>
                      <a:noFill/>
                    </a:lnT>
                    <a:lnB>
                      <a:noFill/>
                    </a:lnB>
                    <a:noFill/>
                  </a:tcPr>
                </a:tc>
                <a:tc>
                  <a:txBody>
                    <a:bodyPr/>
                    <a:lstStyle/>
                    <a:p>
                      <a:pPr>
                        <a:buNone/>
                      </a:pPr>
                      <a:r>
                        <a:rPr lang="en-IN"/>
                        <a:t>Flexible</a:t>
                      </a:r>
                    </a:p>
                  </a:txBody>
                  <a:tcPr anchor="ctr">
                    <a:lnL>
                      <a:noFill/>
                    </a:lnL>
                    <a:lnR>
                      <a:noFill/>
                    </a:lnR>
                    <a:lnT>
                      <a:noFill/>
                    </a:lnT>
                    <a:lnB>
                      <a:noFill/>
                    </a:lnB>
                    <a:noFill/>
                  </a:tcPr>
                </a:tc>
                <a:tc>
                  <a:txBody>
                    <a:bodyPr/>
                    <a:lstStyle/>
                    <a:p>
                      <a:pPr>
                        <a:buNone/>
                      </a:pPr>
                      <a:r>
                        <a:rPr lang="en-IN"/>
                        <a:t>Fast</a:t>
                      </a:r>
                    </a:p>
                  </a:txBody>
                  <a:tcPr anchor="ctr">
                    <a:lnL>
                      <a:noFill/>
                    </a:lnL>
                    <a:lnR>
                      <a:noFill/>
                    </a:lnR>
                    <a:lnT>
                      <a:noFill/>
                    </a:lnT>
                    <a:lnB>
                      <a:noFill/>
                    </a:lnB>
                    <a:noFill/>
                  </a:tcPr>
                </a:tc>
                <a:tc>
                  <a:txBody>
                    <a:bodyPr/>
                    <a:lstStyle/>
                    <a:p>
                      <a:pPr>
                        <a:buNone/>
                      </a:pPr>
                      <a:r>
                        <a:rPr lang="en-IN"/>
                        <a:t>Instant</a:t>
                      </a:r>
                    </a:p>
                  </a:txBody>
                  <a:tcPr anchor="ctr">
                    <a:lnL>
                      <a:noFill/>
                    </a:lnL>
                    <a:lnR>
                      <a:noFill/>
                    </a:lnR>
                    <a:lnT>
                      <a:noFill/>
                    </a:lnT>
                    <a:lnB>
                      <a:noFill/>
                    </a:lnB>
                    <a:noFill/>
                  </a:tcPr>
                </a:tc>
                <a:extLst>
                  <a:ext uri="{0D108BD9-81ED-4DB2-BD59-A6C34878D82A}">
                    <a16:rowId xmlns:a16="http://schemas.microsoft.com/office/drawing/2014/main" val="315324688"/>
                  </a:ext>
                </a:extLst>
              </a:tr>
              <a:tr h="0">
                <a:tc>
                  <a:txBody>
                    <a:bodyPr/>
                    <a:lstStyle/>
                    <a:p>
                      <a:pPr>
                        <a:buNone/>
                      </a:pPr>
                      <a:r>
                        <a:rPr lang="en-IN"/>
                        <a:t>Cost</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tc>
                  <a:txBody>
                    <a:bodyPr/>
                    <a:lstStyle/>
                    <a:p>
                      <a:pPr>
                        <a:buNone/>
                      </a:pPr>
                      <a:r>
                        <a:rPr lang="en-IN"/>
                        <a:t>Medium</a:t>
                      </a:r>
                    </a:p>
                  </a:txBody>
                  <a:tcPr anchor="ctr">
                    <a:lnL>
                      <a:noFill/>
                    </a:lnL>
                    <a:lnR>
                      <a:noFill/>
                    </a:lnR>
                    <a:lnT>
                      <a:noFill/>
                    </a:lnT>
                    <a:lnB>
                      <a:noFill/>
                    </a:lnB>
                    <a:noFill/>
                  </a:tcPr>
                </a:tc>
                <a:tc>
                  <a:txBody>
                    <a:bodyPr/>
                    <a:lstStyle/>
                    <a:p>
                      <a:pPr>
                        <a:buNone/>
                      </a:pPr>
                      <a:r>
                        <a:rPr lang="en-IN"/>
                        <a:t>Subscription</a:t>
                      </a:r>
                    </a:p>
                  </a:txBody>
                  <a:tcPr anchor="ctr">
                    <a:lnL>
                      <a:noFill/>
                    </a:lnL>
                    <a:lnR>
                      <a:noFill/>
                    </a:lnR>
                    <a:lnT>
                      <a:noFill/>
                    </a:lnT>
                    <a:lnB>
                      <a:noFill/>
                    </a:lnB>
                    <a:noFill/>
                  </a:tcPr>
                </a:tc>
                <a:extLst>
                  <a:ext uri="{0D108BD9-81ED-4DB2-BD59-A6C34878D82A}">
                    <a16:rowId xmlns:a16="http://schemas.microsoft.com/office/drawing/2014/main" val="2707029365"/>
                  </a:ext>
                </a:extLst>
              </a:tr>
              <a:tr h="0">
                <a:tc>
                  <a:txBody>
                    <a:bodyPr/>
                    <a:lstStyle/>
                    <a:p>
                      <a:pPr>
                        <a:buNone/>
                      </a:pPr>
                      <a:r>
                        <a:rPr lang="en-IN"/>
                        <a:t>Examples</a:t>
                      </a:r>
                    </a:p>
                  </a:txBody>
                  <a:tcPr anchor="ctr">
                    <a:lnL>
                      <a:noFill/>
                    </a:lnL>
                    <a:lnR>
                      <a:noFill/>
                    </a:lnR>
                    <a:lnT>
                      <a:noFill/>
                    </a:lnT>
                    <a:lnB>
                      <a:noFill/>
                    </a:lnB>
                    <a:noFill/>
                  </a:tcPr>
                </a:tc>
                <a:tc>
                  <a:txBody>
                    <a:bodyPr/>
                    <a:lstStyle/>
                    <a:p>
                      <a:pPr>
                        <a:buNone/>
                      </a:pPr>
                      <a:r>
                        <a:rPr lang="en-IN"/>
                        <a:t>AWS EC2</a:t>
                      </a:r>
                    </a:p>
                  </a:txBody>
                  <a:tcPr anchor="ctr">
                    <a:lnL>
                      <a:noFill/>
                    </a:lnL>
                    <a:lnR>
                      <a:noFill/>
                    </a:lnR>
                    <a:lnT>
                      <a:noFill/>
                    </a:lnT>
                    <a:lnB>
                      <a:noFill/>
                    </a:lnB>
                    <a:noFill/>
                  </a:tcPr>
                </a:tc>
                <a:tc>
                  <a:txBody>
                    <a:bodyPr/>
                    <a:lstStyle/>
                    <a:p>
                      <a:pPr>
                        <a:buNone/>
                      </a:pPr>
                      <a:r>
                        <a:rPr lang="en-IN"/>
                        <a:t>App Engine</a:t>
                      </a:r>
                    </a:p>
                  </a:txBody>
                  <a:tcPr anchor="ctr">
                    <a:lnL>
                      <a:noFill/>
                    </a:lnL>
                    <a:lnR>
                      <a:noFill/>
                    </a:lnR>
                    <a:lnT>
                      <a:noFill/>
                    </a:lnT>
                    <a:lnB>
                      <a:noFill/>
                    </a:lnB>
                    <a:noFill/>
                  </a:tcPr>
                </a:tc>
                <a:tc>
                  <a:txBody>
                    <a:bodyPr/>
                    <a:lstStyle/>
                    <a:p>
                      <a:pPr>
                        <a:buNone/>
                      </a:pPr>
                      <a:r>
                        <a:rPr lang="en-IN" dirty="0"/>
                        <a:t>Google Classroom</a:t>
                      </a:r>
                    </a:p>
                  </a:txBody>
                  <a:tcPr anchor="ctr">
                    <a:lnL>
                      <a:noFill/>
                    </a:lnL>
                    <a:lnR>
                      <a:noFill/>
                    </a:lnR>
                    <a:lnT>
                      <a:noFill/>
                    </a:lnT>
                    <a:lnB>
                      <a:noFill/>
                    </a:lnB>
                    <a:noFill/>
                  </a:tcPr>
                </a:tc>
                <a:extLst>
                  <a:ext uri="{0D108BD9-81ED-4DB2-BD59-A6C34878D82A}">
                    <a16:rowId xmlns:a16="http://schemas.microsoft.com/office/drawing/2014/main" val="2413051272"/>
                  </a:ext>
                </a:extLst>
              </a:tr>
            </a:tbl>
          </a:graphicData>
        </a:graphic>
      </p:graphicFrame>
      <p:sp>
        <p:nvSpPr>
          <p:cNvPr id="6" name="TextBox 5">
            <a:extLst>
              <a:ext uri="{FF2B5EF4-FFF2-40B4-BE49-F238E27FC236}">
                <a16:creationId xmlns:a16="http://schemas.microsoft.com/office/drawing/2014/main" id="{125F8A76-67DD-F135-0D5A-18FC53EFA141}"/>
              </a:ext>
            </a:extLst>
          </p:cNvPr>
          <p:cNvSpPr txBox="1"/>
          <p:nvPr/>
        </p:nvSpPr>
        <p:spPr>
          <a:xfrm>
            <a:off x="719667" y="5163145"/>
            <a:ext cx="6096000" cy="923330"/>
          </a:xfrm>
          <a:prstGeom prst="rect">
            <a:avLst/>
          </a:prstGeom>
          <a:noFill/>
        </p:spPr>
        <p:txBody>
          <a:bodyPr wrap="square">
            <a:spAutoFit/>
          </a:bodyPr>
          <a:lstStyle/>
          <a:p>
            <a:pPr>
              <a:buNone/>
            </a:pPr>
            <a:r>
              <a:rPr lang="en-IN" b="1" dirty="0"/>
              <a:t>Key Point</a:t>
            </a:r>
          </a:p>
          <a:p>
            <a:pPr>
              <a:buNone/>
            </a:pPr>
            <a:r>
              <a:rPr lang="en-IN" dirty="0"/>
              <a:t>As we move from </a:t>
            </a:r>
            <a:r>
              <a:rPr lang="en-IN" b="1" dirty="0"/>
              <a:t>IaaS → PaaS → SaaS</a:t>
            </a:r>
            <a:r>
              <a:rPr lang="en-IN" dirty="0"/>
              <a:t>, the cloud provider manages more services while the user manages fewer.</a:t>
            </a:r>
          </a:p>
        </p:txBody>
      </p:sp>
    </p:spTree>
    <p:extLst>
      <p:ext uri="{BB962C8B-B14F-4D97-AF65-F5344CB8AC3E}">
        <p14:creationId xmlns:p14="http://schemas.microsoft.com/office/powerpoint/2010/main" val="3706564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B887-4C42-4586-70A4-E2D69149BE39}"/>
              </a:ext>
            </a:extLst>
          </p:cNvPr>
          <p:cNvSpPr>
            <a:spLocks noGrp="1"/>
          </p:cNvSpPr>
          <p:nvPr>
            <p:ph type="title"/>
          </p:nvPr>
        </p:nvSpPr>
        <p:spPr/>
        <p:txBody>
          <a:bodyPr/>
          <a:lstStyle/>
          <a:p>
            <a:r>
              <a:rPr lang="en-IN" dirty="0"/>
              <a:t>Cloud Architecture</a:t>
            </a:r>
          </a:p>
        </p:txBody>
      </p:sp>
      <p:sp>
        <p:nvSpPr>
          <p:cNvPr id="3" name="Content Placeholder 2">
            <a:extLst>
              <a:ext uri="{FF2B5EF4-FFF2-40B4-BE49-F238E27FC236}">
                <a16:creationId xmlns:a16="http://schemas.microsoft.com/office/drawing/2014/main" id="{C8BFFD64-14DF-182C-EF12-FED78311C984}"/>
              </a:ext>
            </a:extLst>
          </p:cNvPr>
          <p:cNvSpPr>
            <a:spLocks noGrp="1"/>
          </p:cNvSpPr>
          <p:nvPr>
            <p:ph idx="1"/>
          </p:nvPr>
        </p:nvSpPr>
        <p:spPr/>
        <p:txBody>
          <a:bodyPr>
            <a:normAutofit fontScale="40000" lnSpcReduction="20000"/>
          </a:bodyPr>
          <a:lstStyle/>
          <a:p>
            <a:r>
              <a:rPr lang="en-IN" sz="3000" b="1" dirty="0">
                <a:latin typeface="Times New Roman" panose="02020603050405020304" pitchFamily="18" charset="0"/>
                <a:cs typeface="Times New Roman" panose="02020603050405020304" pitchFamily="18" charset="0"/>
              </a:rPr>
              <a:t>Cloud Service Architecture</a:t>
            </a:r>
          </a:p>
          <a:p>
            <a:r>
              <a:rPr lang="en-IN" sz="3000" dirty="0">
                <a:latin typeface="Times New Roman" panose="02020603050405020304" pitchFamily="18" charset="0"/>
                <a:cs typeface="Times New Roman" panose="02020603050405020304" pitchFamily="18" charset="0"/>
              </a:rPr>
              <a:t>Cloud services are organized into multiple layers, each providing a different level of functionality.</a:t>
            </a:r>
          </a:p>
          <a:p>
            <a:r>
              <a:rPr lang="en-IN" sz="3000" b="1" dirty="0">
                <a:latin typeface="Times New Roman" panose="02020603050405020304" pitchFamily="18" charset="0"/>
                <a:cs typeface="Times New Roman" panose="02020603050405020304" pitchFamily="18" charset="0"/>
              </a:rPr>
              <a:t>Architecture Layers</a:t>
            </a:r>
          </a:p>
          <a:p>
            <a:r>
              <a:rPr lang="en-IN" sz="3000" dirty="0">
                <a:latin typeface="Times New Roman" panose="02020603050405020304" pitchFamily="18" charset="0"/>
                <a:cs typeface="Times New Roman" panose="02020603050405020304" pitchFamily="18" charset="0"/>
              </a:rPr>
              <a:t>Users</a:t>
            </a:r>
          </a:p>
          <a:p>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SaaS</a:t>
            </a:r>
          </a:p>
          <a:p>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PaaS</a:t>
            </a:r>
          </a:p>
          <a:p>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IaaS</a:t>
            </a:r>
          </a:p>
          <a:p>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Physical Infrastructure</a:t>
            </a:r>
          </a:p>
          <a:p>
            <a:r>
              <a:rPr lang="en-IN" b="1" dirty="0"/>
              <a:t>Explanation</a:t>
            </a:r>
          </a:p>
          <a:p>
            <a:r>
              <a:rPr lang="en-IN" dirty="0"/>
              <a:t>Users access applications through SaaS. </a:t>
            </a:r>
          </a:p>
          <a:p>
            <a:r>
              <a:rPr lang="en-IN" dirty="0"/>
              <a:t>Developers build applications using PaaS. </a:t>
            </a:r>
          </a:p>
          <a:p>
            <a:r>
              <a:rPr lang="en-IN" dirty="0"/>
              <a:t>IaaS provides virtual infrastructure. </a:t>
            </a:r>
          </a:p>
          <a:p>
            <a:r>
              <a:rPr lang="en-IN" dirty="0"/>
              <a:t>Physical servers are managed by the cloud provider.</a:t>
            </a:r>
          </a:p>
          <a:p>
            <a:endParaRPr lang="en-IN" dirty="0"/>
          </a:p>
        </p:txBody>
      </p:sp>
    </p:spTree>
    <p:extLst>
      <p:ext uri="{BB962C8B-B14F-4D97-AF65-F5344CB8AC3E}">
        <p14:creationId xmlns:p14="http://schemas.microsoft.com/office/powerpoint/2010/main" val="3472998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711DA-88C6-6354-0B16-6D6D27083894}"/>
              </a:ext>
            </a:extLst>
          </p:cNvPr>
          <p:cNvSpPr>
            <a:spLocks noGrp="1"/>
          </p:cNvSpPr>
          <p:nvPr>
            <p:ph type="title"/>
          </p:nvPr>
        </p:nvSpPr>
        <p:spPr/>
        <p:txBody>
          <a:bodyPr/>
          <a:lstStyle/>
          <a:p>
            <a:r>
              <a:rPr lang="en-US" dirty="0"/>
              <a:t> </a:t>
            </a:r>
            <a:endParaRPr lang="en-IN" dirty="0"/>
          </a:p>
        </p:txBody>
      </p:sp>
      <p:pic>
        <p:nvPicPr>
          <p:cNvPr id="5" name="Content Placeholder 4">
            <a:extLst>
              <a:ext uri="{FF2B5EF4-FFF2-40B4-BE49-F238E27FC236}">
                <a16:creationId xmlns:a16="http://schemas.microsoft.com/office/drawing/2014/main" id="{436A8A12-9621-0257-BA4D-EA0368F04D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1648" y="1054894"/>
            <a:ext cx="3816152" cy="5088203"/>
          </a:xfrm>
          <a:prstGeom prst="rect">
            <a:avLst/>
          </a:prstGeom>
        </p:spPr>
      </p:pic>
    </p:spTree>
    <p:extLst>
      <p:ext uri="{BB962C8B-B14F-4D97-AF65-F5344CB8AC3E}">
        <p14:creationId xmlns:p14="http://schemas.microsoft.com/office/powerpoint/2010/main" val="355163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1C96-D3E5-1CE2-15D5-03281C8A6857}"/>
              </a:ext>
            </a:extLst>
          </p:cNvPr>
          <p:cNvSpPr>
            <a:spLocks noGrp="1"/>
          </p:cNvSpPr>
          <p:nvPr>
            <p:ph type="title"/>
          </p:nvPr>
        </p:nvSpPr>
        <p:spPr/>
        <p:txBody>
          <a:bodyPr>
            <a:normAutofit fontScale="90000"/>
          </a:bodyPr>
          <a:lstStyle/>
          <a:p>
            <a:r>
              <a:rPr lang="en-IN" b="1" dirty="0"/>
              <a:t>Educational Institution Use Case</a:t>
            </a:r>
            <a:br>
              <a:rPr lang="en-IN" b="1" dirty="0"/>
            </a:br>
            <a:endParaRPr lang="en-IN" dirty="0"/>
          </a:p>
        </p:txBody>
      </p:sp>
      <p:sp>
        <p:nvSpPr>
          <p:cNvPr id="3" name="Content Placeholder 2">
            <a:extLst>
              <a:ext uri="{FF2B5EF4-FFF2-40B4-BE49-F238E27FC236}">
                <a16:creationId xmlns:a16="http://schemas.microsoft.com/office/drawing/2014/main" id="{4C3B4DFB-5A8D-B6AD-C30C-BC5353773C2F}"/>
              </a:ext>
            </a:extLst>
          </p:cNvPr>
          <p:cNvSpPr>
            <a:spLocks noGrp="1"/>
          </p:cNvSpPr>
          <p:nvPr>
            <p:ph idx="1"/>
          </p:nvPr>
        </p:nvSpPr>
        <p:spPr/>
        <p:txBody>
          <a:bodyPr>
            <a:normAutofit fontScale="62500" lnSpcReduction="20000"/>
          </a:bodyPr>
          <a:lstStyle/>
          <a:p>
            <a:r>
              <a:rPr lang="en-IN" b="1" dirty="0"/>
              <a:t>Cloud Computing in Education</a:t>
            </a:r>
          </a:p>
          <a:p>
            <a:r>
              <a:rPr lang="en-IN" dirty="0"/>
              <a:t>Educational institutions use cloud services to improve learning, administration, and collaboration.</a:t>
            </a:r>
          </a:p>
          <a:p>
            <a:r>
              <a:rPr lang="en-IN" b="1" dirty="0"/>
              <a:t>Applications</a:t>
            </a:r>
          </a:p>
          <a:p>
            <a:r>
              <a:rPr lang="en-IN" dirty="0"/>
              <a:t>Student Information Systems (IaaS) </a:t>
            </a:r>
          </a:p>
          <a:p>
            <a:r>
              <a:rPr lang="en-IN" dirty="0"/>
              <a:t>Online Examination Portal (PaaS) </a:t>
            </a:r>
          </a:p>
          <a:p>
            <a:r>
              <a:rPr lang="en-IN" dirty="0"/>
              <a:t>Google Classroom (SaaS) </a:t>
            </a:r>
          </a:p>
          <a:p>
            <a:r>
              <a:rPr lang="en-IN" dirty="0"/>
              <a:t>Microsoft Teams </a:t>
            </a:r>
          </a:p>
          <a:p>
            <a:r>
              <a:rPr lang="en-IN" dirty="0"/>
              <a:t>Cloud Storage for Research Data </a:t>
            </a:r>
          </a:p>
          <a:p>
            <a:r>
              <a:rPr lang="en-IN" b="1" dirty="0"/>
              <a:t>Benefits</a:t>
            </a:r>
          </a:p>
          <a:p>
            <a:r>
              <a:rPr lang="en-IN" dirty="0"/>
              <a:t>Remote learning </a:t>
            </a:r>
          </a:p>
          <a:p>
            <a:r>
              <a:rPr lang="en-IN" dirty="0"/>
              <a:t>Secure data management </a:t>
            </a:r>
          </a:p>
          <a:p>
            <a:r>
              <a:rPr lang="en-IN" dirty="0"/>
              <a:t>Easy collaboration </a:t>
            </a:r>
          </a:p>
          <a:p>
            <a:r>
              <a:rPr lang="en-IN" dirty="0"/>
              <a:t>Reduced IT costs </a:t>
            </a:r>
          </a:p>
          <a:p>
            <a:endParaRPr lang="en-IN" dirty="0"/>
          </a:p>
        </p:txBody>
      </p:sp>
    </p:spTree>
    <p:extLst>
      <p:ext uri="{BB962C8B-B14F-4D97-AF65-F5344CB8AC3E}">
        <p14:creationId xmlns:p14="http://schemas.microsoft.com/office/powerpoint/2010/main" val="1292525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E383-1461-B21F-E42C-281724759141}"/>
              </a:ext>
            </a:extLst>
          </p:cNvPr>
          <p:cNvSpPr>
            <a:spLocks noGrp="1"/>
          </p:cNvSpPr>
          <p:nvPr>
            <p:ph type="title"/>
          </p:nvPr>
        </p:nvSpPr>
        <p:spPr/>
        <p:txBody>
          <a:bodyPr/>
          <a:lstStyle/>
          <a:p>
            <a:r>
              <a:rPr lang="en-IN" dirty="0"/>
              <a:t>Industry Relevance, Conclusion &amp; References</a:t>
            </a:r>
          </a:p>
        </p:txBody>
      </p:sp>
      <p:sp>
        <p:nvSpPr>
          <p:cNvPr id="3" name="Content Placeholder 2">
            <a:extLst>
              <a:ext uri="{FF2B5EF4-FFF2-40B4-BE49-F238E27FC236}">
                <a16:creationId xmlns:a16="http://schemas.microsoft.com/office/drawing/2014/main" id="{EEFE42F0-F022-BBEF-9DD6-A4920B0FF136}"/>
              </a:ext>
            </a:extLst>
          </p:cNvPr>
          <p:cNvSpPr>
            <a:spLocks noGrp="1"/>
          </p:cNvSpPr>
          <p:nvPr>
            <p:ph idx="1"/>
          </p:nvPr>
        </p:nvSpPr>
        <p:spPr/>
        <p:txBody>
          <a:bodyPr>
            <a:normAutofit fontScale="25000" lnSpcReduction="20000"/>
          </a:bodyPr>
          <a:lstStyle/>
          <a:p>
            <a:r>
              <a:rPr lang="en-IN" b="1" dirty="0"/>
              <a:t>Industry Relevance</a:t>
            </a:r>
          </a:p>
          <a:p>
            <a:r>
              <a:rPr lang="en-IN" sz="5600" dirty="0"/>
              <a:t>Cloud computing is widely used in:</a:t>
            </a:r>
          </a:p>
          <a:p>
            <a:r>
              <a:rPr lang="en-IN" sz="5600" dirty="0"/>
              <a:t>Education </a:t>
            </a:r>
          </a:p>
          <a:p>
            <a:r>
              <a:rPr lang="en-IN" sz="5600" dirty="0"/>
              <a:t>Healthcare </a:t>
            </a:r>
          </a:p>
          <a:p>
            <a:r>
              <a:rPr lang="en-IN" sz="5600" dirty="0"/>
              <a:t>Banking </a:t>
            </a:r>
          </a:p>
          <a:p>
            <a:r>
              <a:rPr lang="en-IN" sz="5600" dirty="0"/>
              <a:t>Retail </a:t>
            </a:r>
          </a:p>
          <a:p>
            <a:r>
              <a:rPr lang="en-IN" sz="5600" dirty="0"/>
              <a:t>Manufacturing </a:t>
            </a:r>
          </a:p>
          <a:p>
            <a:r>
              <a:rPr lang="en-IN" sz="5600" dirty="0"/>
              <a:t>Government </a:t>
            </a:r>
          </a:p>
          <a:p>
            <a:r>
              <a:rPr lang="en-IN" sz="5600" b="1" dirty="0"/>
              <a:t>Conclusion</a:t>
            </a:r>
          </a:p>
          <a:p>
            <a:r>
              <a:rPr lang="en-IN" sz="5600" dirty="0"/>
              <a:t>IaaS provides flexible infrastructure. </a:t>
            </a:r>
          </a:p>
          <a:p>
            <a:r>
              <a:rPr lang="en-IN" sz="5600" dirty="0"/>
              <a:t>PaaS accelerates application development. </a:t>
            </a:r>
          </a:p>
          <a:p>
            <a:r>
              <a:rPr lang="en-IN" sz="5600" dirty="0"/>
              <a:t>SaaS delivers ready-to-use software. </a:t>
            </a:r>
          </a:p>
          <a:p>
            <a:r>
              <a:rPr lang="en-IN" sz="5600" dirty="0"/>
              <a:t>Educational institutions benefit through lower costs, better collaboration, and scalable digital learning. </a:t>
            </a:r>
          </a:p>
          <a:p>
            <a:r>
              <a:rPr lang="en-IN" sz="5600" b="1" dirty="0"/>
              <a:t>References</a:t>
            </a:r>
          </a:p>
          <a:p>
            <a:r>
              <a:rPr lang="en-IN" sz="5600" dirty="0"/>
              <a:t>NIST Cloud Computing Definition </a:t>
            </a:r>
          </a:p>
          <a:p>
            <a:r>
              <a:rPr lang="en-IN" sz="5600" dirty="0"/>
              <a:t>AWS Documentation </a:t>
            </a:r>
          </a:p>
          <a:p>
            <a:r>
              <a:rPr lang="en-IN" sz="5600" dirty="0"/>
              <a:t>Microsoft Azure Documentation </a:t>
            </a:r>
          </a:p>
          <a:p>
            <a:r>
              <a:rPr lang="en-IN" sz="5600" dirty="0"/>
              <a:t>Google Cloud Documentation</a:t>
            </a:r>
          </a:p>
          <a:p>
            <a:endParaRPr lang="en-IN" dirty="0"/>
          </a:p>
        </p:txBody>
      </p:sp>
    </p:spTree>
    <p:extLst>
      <p:ext uri="{BB962C8B-B14F-4D97-AF65-F5344CB8AC3E}">
        <p14:creationId xmlns:p14="http://schemas.microsoft.com/office/powerpoint/2010/main" val="1508269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743" y="737118"/>
            <a:ext cx="5143500" cy="5019869"/>
          </a:xfrm>
          <a:prstGeom prst="rect">
            <a:avLst/>
          </a:prstGeom>
        </p:spPr>
      </p:pic>
      <p:pic>
        <p:nvPicPr>
          <p:cNvPr id="4" name="WhatsApp Video 2026-07-26 at 15.53.1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176865" y="737118"/>
            <a:ext cx="4469364" cy="5071837"/>
          </a:xfrm>
          <a:prstGeom prst="rect">
            <a:avLst/>
          </a:prstGeom>
        </p:spPr>
      </p:pic>
    </p:spTree>
    <p:extLst>
      <p:ext uri="{BB962C8B-B14F-4D97-AF65-F5344CB8AC3E}">
        <p14:creationId xmlns:p14="http://schemas.microsoft.com/office/powerpoint/2010/main" val="10733809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618</Words>
  <Application>Microsoft Office PowerPoint</Application>
  <PresentationFormat>Widescreen</PresentationFormat>
  <Paragraphs>154</Paragraphs>
  <Slides>14</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PowerPoint Presentation</vt:lpstr>
      <vt:lpstr>PowerPoint Presentation</vt:lpstr>
      <vt:lpstr>A Comparative Study of Infrastructure as a Service (IaaS), Platform as a Service (PaaS), and Software as a Service (SaaS) for Educational Institutions    CSA1522 CLOUD COMPUTING FOR BIG DATA ANALYSIS  CO1-AT2-TECHNICAL PRESENTATION</vt:lpstr>
      <vt:lpstr>Introduction to Cloud Computing</vt:lpstr>
      <vt:lpstr>Objectives &amp; Need for Cloud</vt:lpstr>
      <vt:lpstr>Infrastructure as a Service (IaaS)</vt:lpstr>
      <vt:lpstr>Platform as a Service (PaaS)</vt:lpstr>
      <vt:lpstr>Software as a Service (SaaS)</vt:lpstr>
      <vt:lpstr>Comparison of IaaS, PaaS and SaaS</vt:lpstr>
      <vt:lpstr>Cloud Architecture</vt:lpstr>
      <vt:lpstr> </vt:lpstr>
      <vt:lpstr>Educational Institution Use Case </vt:lpstr>
      <vt:lpstr>Industry Relevance, Conclusion &amp;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 Madhavan</dc:creator>
  <cp:lastModifiedBy>hp</cp:lastModifiedBy>
  <cp:revision>6</cp:revision>
  <dcterms:created xsi:type="dcterms:W3CDTF">2026-07-23T07:00:52Z</dcterms:created>
  <dcterms:modified xsi:type="dcterms:W3CDTF">2026-07-26T10:25:57Z</dcterms:modified>
</cp:coreProperties>
</file>